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1814" r:id="rId3"/>
    <p:sldId id="1826" r:id="rId4"/>
    <p:sldId id="1816" r:id="rId5"/>
    <p:sldId id="1827" r:id="rId6"/>
    <p:sldId id="1829" r:id="rId7"/>
    <p:sldId id="1789" r:id="rId8"/>
  </p:sldIdLst>
  <p:sldSz cx="9144000" cy="6858000" type="screen4x3"/>
  <p:notesSz cx="6797675" cy="9926320"/>
  <p:custDataLst>
    <p:tags r:id="rId14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3" userDrawn="1">
          <p15:clr>
            <a:srgbClr val="A4A3A4"/>
          </p15:clr>
        </p15:guide>
        <p15:guide id="2" orient="horz" pos="119" userDrawn="1">
          <p15:clr>
            <a:srgbClr val="A4A3A4"/>
          </p15:clr>
        </p15:guide>
        <p15:guide id="3" orient="horz" pos="1522" userDrawn="1">
          <p15:clr>
            <a:srgbClr val="A4A3A4"/>
          </p15:clr>
        </p15:guide>
        <p15:guide id="4" orient="horz" pos="4178" userDrawn="1">
          <p15:clr>
            <a:srgbClr val="A4A3A4"/>
          </p15:clr>
        </p15:guide>
        <p15:guide id="5" orient="horz" pos="2872" userDrawn="1">
          <p15:clr>
            <a:srgbClr val="A4A3A4"/>
          </p15:clr>
        </p15:guide>
        <p15:guide id="6" orient="horz" pos="799" userDrawn="1">
          <p15:clr>
            <a:srgbClr val="A4A3A4"/>
          </p15:clr>
        </p15:guide>
        <p15:guide id="7" orient="horz" pos="3520" userDrawn="1">
          <p15:clr>
            <a:srgbClr val="A4A3A4"/>
          </p15:clr>
        </p15:guide>
        <p15:guide id="8" pos="2880" userDrawn="1">
          <p15:clr>
            <a:srgbClr val="A4A3A4"/>
          </p15:clr>
        </p15:guide>
        <p15:guide id="9" pos="1573" userDrawn="1">
          <p15:clr>
            <a:srgbClr val="A4A3A4"/>
          </p15:clr>
        </p15:guide>
        <p15:guide id="10" pos="5602" userDrawn="1">
          <p15:clr>
            <a:srgbClr val="A4A3A4"/>
          </p15:clr>
        </p15:guide>
        <p15:guide id="11" pos="4272" userDrawn="1">
          <p15:clr>
            <a:srgbClr val="A4A3A4"/>
          </p15:clr>
        </p15:guide>
        <p15:guide id="12" pos="1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FF"/>
    <a:srgbClr val="990000"/>
    <a:srgbClr val="FFFF00"/>
    <a:srgbClr val="E1E2F4"/>
    <a:srgbClr val="CC9900"/>
    <a:srgbClr val="CC6600"/>
    <a:srgbClr val="FF99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5" autoAdjust="0"/>
    <p:restoredTop sz="97059" autoAdjust="0"/>
  </p:normalViewPr>
  <p:slideViewPr>
    <p:cSldViewPr showGuides="1">
      <p:cViewPr varScale="1">
        <p:scale>
          <a:sx n="94" d="100"/>
          <a:sy n="94" d="100"/>
        </p:scale>
        <p:origin x="509" y="35"/>
      </p:cViewPr>
      <p:guideLst>
        <p:guide orient="horz" pos="2123"/>
        <p:guide orient="horz" pos="119"/>
        <p:guide orient="horz" pos="1522"/>
        <p:guide orient="horz" pos="4178"/>
        <p:guide orient="horz" pos="2872"/>
        <p:guide orient="horz" pos="799"/>
        <p:guide orient="horz" pos="3520"/>
        <p:guide pos="2880"/>
        <p:guide pos="1573"/>
        <p:guide pos="5602"/>
        <p:guide pos="4272"/>
        <p:guide pos="180"/>
      </p:guideLst>
    </p:cSldViewPr>
  </p:slideViewPr>
  <p:outlineViewPr>
    <p:cViewPr>
      <p:scale>
        <a:sx n="33" d="100"/>
        <a:sy n="33" d="100"/>
      </p:scale>
      <p:origin x="0" y="451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-2010" y="-84"/>
      </p:cViewPr>
      <p:guideLst>
        <p:guide orient="horz" pos="3073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5A06931-2932-42B7-90C9-74E95285DEB4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B472D9B4-EDB5-4708-8200-1FA6DE15F11C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8121E18-97EB-445C-AD04-8CF02129254D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4303A3C6-0CB0-4B93-A866-C980E2F1DC3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1415" y="2349501"/>
            <a:ext cx="4321175" cy="1043127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415896" y="4508500"/>
            <a:ext cx="4316693" cy="100876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63D3E-551F-46E4-A042-0BEDEBC22DAC}" type="datetime1">
              <a:rPr lang="zh-CN" altLang="en-US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720B8D-0B7F-4FF4-A100-F01FB5D7DB4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>
            <a:spLocks noChangeArrowheads="1"/>
          </p:cNvSpPr>
          <p:nvPr userDrawn="1"/>
        </p:nvSpPr>
        <p:spPr bwMode="auto">
          <a:xfrm flipV="1">
            <a:off x="468313" y="1214438"/>
            <a:ext cx="8447087" cy="53975"/>
          </a:xfrm>
          <a:prstGeom prst="rect">
            <a:avLst/>
          </a:prstGeom>
          <a:gradFill rotWithShape="0">
            <a:gsLst>
              <a:gs pos="0">
                <a:srgbClr val="3366FF"/>
              </a:gs>
              <a:gs pos="25000">
                <a:srgbClr val="01A78F"/>
              </a:gs>
              <a:gs pos="50000">
                <a:srgbClr val="FFFF00"/>
              </a:gs>
              <a:gs pos="75000">
                <a:srgbClr val="FF6633"/>
              </a:gs>
              <a:gs pos="100000">
                <a:srgbClr val="FF3399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1268685"/>
            <a:ext cx="8642350" cy="496862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34925" y="6524625"/>
            <a:ext cx="504825" cy="217488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95E616B3-3BB4-4DDB-8665-614DDDDF96EA}" type="slidenum">
              <a:rPr lang="zh-CN" altLang="en-US"/>
            </a:fld>
            <a:endParaRPr lang="zh-CN" altLang="en-US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3C03B2-6976-4EC6-BFD2-D1CC4D4C462A}" type="datetime1">
              <a:rPr lang="zh-CN" altLang="en-US"/>
            </a:fld>
            <a:endParaRPr lang="zh-CN" altLang="en-US" dirty="0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4508501"/>
            <a:ext cx="8642350" cy="216058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0825" y="2326713"/>
            <a:ext cx="8642350" cy="21817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A6B27B-2CBC-4247-90B2-221A57B8F98A}" type="datetime1">
              <a:rPr lang="zh-CN" altLang="en-US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444A81-72AF-410A-9693-729ED81AFBF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50826" y="1268413"/>
            <a:ext cx="4321175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86673" y="1280448"/>
            <a:ext cx="4306503" cy="53886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2B97B-0D7F-433A-9036-BFC1A9688F59}" type="datetime1">
              <a:rPr lang="zh-CN" altLang="en-US"/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A3138E-B6E2-4118-ACD9-D53B82EEF23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0826" y="1268954"/>
            <a:ext cx="4321175" cy="5038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50827" y="1844826"/>
            <a:ext cx="4321175" cy="48242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583157" y="1268413"/>
            <a:ext cx="4310018" cy="5044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572002" y="1844824"/>
            <a:ext cx="4321175" cy="48242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879EB9-3C12-4B58-9DF5-9C42DD2A3A6D}" type="datetime1">
              <a:rPr lang="zh-CN" altLang="en-US"/>
            </a:fld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AD6D90-2947-40CA-ACB0-8FACFD41D98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14327-272E-4FD7-B896-C9E73EE846B2}" type="datetime1">
              <a:rPr lang="zh-CN" altLang="en-US"/>
            </a:fld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02A708-FD98-4AB8-91D7-4FC1807DCF1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794D5-FC78-4CD0-9DCC-E374E3B7AFD0}" type="datetime1">
              <a:rPr lang="zh-CN" altLang="en-US"/>
            </a:fld>
            <a:endParaRPr lang="zh-CN" altLang="en-US" dirty="0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950" y="6654800"/>
            <a:ext cx="971550" cy="187325"/>
          </a:xfrm>
        </p:spPr>
        <p:txBody>
          <a:bodyPr/>
          <a:lstStyle>
            <a:lvl1pPr>
              <a:defRPr/>
            </a:lvl1pPr>
          </a:lstStyle>
          <a:p>
            <a:fld id="{64373130-3076-4D66-A4F7-AEF86BAA634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3260" y="188914"/>
            <a:ext cx="2158155" cy="1079500"/>
          </a:xfrm>
          <a:solidFill>
            <a:schemeClr val="accent1"/>
          </a:solidFill>
          <a:effectLst/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11413" y="188914"/>
            <a:ext cx="6481762" cy="64801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0826" y="1282205"/>
            <a:ext cx="2160588" cy="5386883"/>
          </a:xfrm>
          <a:solidFill>
            <a:schemeClr val="accent1"/>
          </a:solidFill>
          <a:effectLst/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F6E1E-6DA4-4437-832F-42ADE1C4393B}" type="datetime1">
              <a:rPr lang="zh-CN" altLang="en-US"/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860C12-CD97-49D8-BDDD-404D504813B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D970E6-F838-4F04-8EE6-E43776ECFA5E}" type="datetime1">
              <a:rPr lang="zh-CN" altLang="en-US"/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93583D-7E3B-4BE4-B185-96CED7B45CF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2B293-A194-479C-8BF4-9734D1C7F124}" type="datetime1">
              <a:rPr lang="zh-CN" altLang="en-US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254584-4B4B-4DD8-882B-37501684277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7E84EF-04B7-4AD2-9995-69F0043D264F}" type="datetime1">
              <a:rPr lang="zh-CN" altLang="en-US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5DABC9-C11F-4477-9333-327FCDDF9D2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5E75E9-8952-4E22-807A-F98B248481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250825" y="188913"/>
            <a:ext cx="864235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250825" y="1268413"/>
            <a:ext cx="8642350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2411413" y="6669088"/>
            <a:ext cx="2160587" cy="176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4D594D5-AF76-42C8-8637-A2451C805531}" type="datetime1">
              <a:rPr lang="zh-CN" altLang="en-US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572000" y="6669088"/>
            <a:ext cx="2160588" cy="188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732588" y="6669088"/>
            <a:ext cx="2411412" cy="1889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709929D4-3BA7-41E5-9145-6EBA23BC9C70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数据集参考</a:t>
            </a:r>
            <a:r>
              <a:rPr kumimoji="1" lang="en-US" altLang="zh-CN" dirty="0"/>
              <a:t>Ⅰ</a:t>
            </a:r>
            <a:r>
              <a:rPr kumimoji="1" lang="zh-CN" altLang="en-US" dirty="0"/>
              <a:t>（</a:t>
            </a:r>
            <a:r>
              <a:rPr kumimoji="1" lang="en-US" altLang="zh-CN" dirty="0" err="1"/>
              <a:t>SynthScars</a:t>
            </a:r>
            <a:r>
              <a:rPr kumimoji="1" lang="zh-CN" altLang="en-US" dirty="0"/>
              <a:t>）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1268685"/>
            <a:ext cx="8642350" cy="2376339"/>
          </a:xfrm>
        </p:spPr>
        <p:txBody>
          <a:bodyPr/>
          <a:lstStyle/>
          <a:p>
            <a:r>
              <a:rPr kumimoji="1" lang="zh-CN" altLang="en-US" sz="2800" dirty="0"/>
              <a:t>数据集构成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训练集：</a:t>
            </a:r>
            <a:r>
              <a:rPr kumimoji="1" lang="en-US" altLang="zh-CN" sz="1800" dirty="0"/>
              <a:t>11,236 </a:t>
            </a:r>
            <a:r>
              <a:rPr kumimoji="1" lang="zh-CN" altLang="en-US" sz="1800" dirty="0"/>
              <a:t>张</a:t>
            </a:r>
            <a:r>
              <a:rPr lang="zh-CN" altLang="en-US" sz="1800" dirty="0"/>
              <a:t>全合成图像</a:t>
            </a:r>
            <a:endParaRPr kumimoji="1" lang="zh-CN" altLang="en-US" sz="1800" dirty="0"/>
          </a:p>
          <a:p>
            <a:pPr lvl="1"/>
            <a:r>
              <a:rPr kumimoji="1" lang="zh-CN" altLang="en-US" sz="1800" dirty="0"/>
              <a:t>测试集：</a:t>
            </a:r>
            <a:r>
              <a:rPr kumimoji="1" lang="en-US" altLang="zh-CN" sz="1800" dirty="0"/>
              <a:t>1,000 </a:t>
            </a:r>
            <a:r>
              <a:rPr kumimoji="1" lang="zh-CN" altLang="en-US" sz="1800" dirty="0"/>
              <a:t>张</a:t>
            </a:r>
            <a:r>
              <a:rPr lang="zh-CN" altLang="en-US" sz="1800" dirty="0"/>
              <a:t>全合成图像</a:t>
            </a:r>
            <a:endParaRPr kumimoji="1" lang="en-US" altLang="zh-CN" sz="1800" dirty="0"/>
          </a:p>
          <a:p>
            <a:pPr lvl="1"/>
            <a:r>
              <a:rPr lang="zh-CN" altLang="en-US" sz="1800" dirty="0"/>
              <a:t>来源包括 </a:t>
            </a:r>
            <a:r>
              <a:rPr lang="en-US" altLang="zh-CN" sz="1800" b="1" dirty="0"/>
              <a:t>RichHF-18K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Chameleon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FFAA</a:t>
            </a:r>
            <a:r>
              <a:rPr lang="en-US" altLang="zh-CN" sz="1800" dirty="0"/>
              <a:t> </a:t>
            </a:r>
            <a:r>
              <a:rPr lang="zh-CN" altLang="en-US" sz="1800" dirty="0"/>
              <a:t>等</a:t>
            </a:r>
            <a:endParaRPr kumimoji="1"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E616B3-3BB4-4DDB-8665-614DDDDF96EA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563888" y="303753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现有数据集对比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696" y="3356992"/>
            <a:ext cx="5436096" cy="28628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数据集参考</a:t>
            </a:r>
            <a:r>
              <a:rPr kumimoji="1" lang="en-US" altLang="zh-CN" dirty="0"/>
              <a:t>Ⅰ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1268685"/>
            <a:ext cx="8642350" cy="2376339"/>
          </a:xfrm>
        </p:spPr>
        <p:txBody>
          <a:bodyPr/>
          <a:lstStyle/>
          <a:p>
            <a:r>
              <a:rPr kumimoji="1" lang="zh-CN" altLang="en-US" sz="2800" dirty="0"/>
              <a:t>伪造痕迹标注</a:t>
            </a:r>
            <a:endParaRPr kumimoji="1" lang="en-US" altLang="zh-CN" sz="1800" dirty="0"/>
          </a:p>
          <a:p>
            <a:pPr lvl="1"/>
            <a:r>
              <a:rPr lang="en-US" altLang="zh-CN" sz="1800" dirty="0"/>
              <a:t>Physics </a:t>
            </a:r>
            <a:r>
              <a:rPr lang="zh-CN" altLang="en-US" sz="1800" dirty="0"/>
              <a:t>包括光照</a:t>
            </a:r>
            <a:r>
              <a:rPr lang="en-US" altLang="zh-CN" sz="1800" dirty="0"/>
              <a:t>/</a:t>
            </a:r>
            <a:r>
              <a:rPr lang="zh-CN" altLang="en-US" sz="1800" dirty="0"/>
              <a:t>反射</a:t>
            </a:r>
            <a:r>
              <a:rPr lang="en-US" altLang="zh-CN" sz="1800" dirty="0"/>
              <a:t>/</a:t>
            </a:r>
            <a:r>
              <a:rPr lang="zh-CN" altLang="en-US" sz="1800" dirty="0"/>
              <a:t>透视</a:t>
            </a:r>
            <a:r>
              <a:rPr lang="en-US" altLang="zh-CN" sz="1800" dirty="0"/>
              <a:t>/</a:t>
            </a:r>
            <a:r>
              <a:rPr lang="zh-CN" altLang="en-US" sz="1800" dirty="0"/>
              <a:t>物理规律违背；</a:t>
            </a:r>
            <a:endParaRPr lang="en-US" altLang="zh-CN" sz="1800" dirty="0"/>
          </a:p>
          <a:p>
            <a:pPr lvl="1"/>
            <a:r>
              <a:rPr lang="en-US" altLang="zh-CN" sz="1800" dirty="0"/>
              <a:t>Distortion </a:t>
            </a:r>
            <a:r>
              <a:rPr lang="zh-CN" altLang="en-US" sz="1800" dirty="0"/>
              <a:t>包括颜色纹理失真、噪声模糊、材质表达错误、风格异常；</a:t>
            </a:r>
            <a:endParaRPr lang="en-US" altLang="zh-CN" sz="1800" dirty="0"/>
          </a:p>
          <a:p>
            <a:pPr lvl="1"/>
            <a:r>
              <a:rPr lang="en-US" altLang="zh-CN" sz="1800" dirty="0"/>
              <a:t>Structure </a:t>
            </a:r>
            <a:r>
              <a:rPr lang="zh-CN" altLang="en-US" sz="1800" dirty="0"/>
              <a:t>包括物体变形、不对称、文字结构异常等</a:t>
            </a:r>
            <a:endParaRPr kumimoji="1"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E616B3-3BB4-4DDB-8665-614DDDDF96EA}" type="slidenum">
              <a:rPr lang="zh-CN" altLang="en-US" smtClean="0"/>
            </a:fld>
            <a:endParaRPr lang="zh-CN" altLang="en-US"/>
          </a:p>
        </p:txBody>
      </p:sp>
      <p:sp>
        <p:nvSpPr>
          <p:cNvPr id="17" name="Text Box 9"/>
          <p:cNvSpPr txBox="1"/>
          <p:nvPr/>
        </p:nvSpPr>
        <p:spPr>
          <a:xfrm>
            <a:off x="3635896" y="180413"/>
            <a:ext cx="6560664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latin typeface="Microsoft Sans Serif" panose="020B0604020202020204" charset="0"/>
                <a:ea typeface="Heiti SC Light" panose="02000000000000000000" charset="-122"/>
                <a:cs typeface="Microsoft Sans Serif" panose="020B0604020202020204" charset="0"/>
              </a:rPr>
              <a:t>下载</a:t>
            </a:r>
            <a:r>
              <a:rPr lang="en-US" dirty="0" err="1">
                <a:latin typeface="Microsoft Sans Serif" panose="020B0604020202020204" charset="0"/>
                <a:ea typeface="Heiti SC Light" panose="02000000000000000000" charset="-122"/>
                <a:cs typeface="Microsoft Sans Serif" panose="020B0604020202020204" charset="0"/>
              </a:rPr>
              <a:t>链接</a:t>
            </a:r>
            <a:r>
              <a:rPr lang="zh-CN" altLang="en-US" dirty="0">
                <a:latin typeface="Microsoft Sans Serif" panose="020B0604020202020204" charset="0"/>
                <a:ea typeface="Heiti SC Light" panose="02000000000000000000" charset="-122"/>
                <a:cs typeface="Microsoft Sans Serif" panose="020B0604020202020204" charset="0"/>
              </a:rPr>
              <a:t>：</a:t>
            </a:r>
            <a:endParaRPr lang="en-US" altLang="zh-CN" dirty="0">
              <a:latin typeface="Microsoft Sans Serif" panose="020B0604020202020204" charset="0"/>
              <a:ea typeface="Heiti SC Light" panose="02000000000000000000" charset="-122"/>
              <a:cs typeface="Microsoft Sans Serif" panose="020B0604020202020204" charset="0"/>
            </a:endParaRPr>
          </a:p>
          <a:p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Sans Serif" panose="020B0604020202020204" charset="0"/>
                <a:ea typeface="Heiti SC Light" panose="02000000000000000000" charset="-122"/>
                <a:cs typeface="Microsoft Sans Serif" panose="020B0604020202020204" charset="0"/>
              </a:rPr>
              <a:t>https://huggingface.co/datasets/khr0516/SynthScars</a:t>
            </a:r>
            <a:endParaRPr lang="en-US" altLang="zh-CN" dirty="0">
              <a:latin typeface="Microsoft Sans Serif" panose="020B0604020202020204" charset="0"/>
              <a:ea typeface="Heiti SC Light" panose="02000000000000000000" charset="-122"/>
              <a:cs typeface="Microsoft Sans Serif" panose="020B060402020202020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84" y="2852353"/>
            <a:ext cx="7245555" cy="38252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2658204"/>
            <a:ext cx="8950945" cy="21299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188913"/>
            <a:ext cx="8642350" cy="1079500"/>
          </a:xfrm>
        </p:spPr>
        <p:txBody>
          <a:bodyPr/>
          <a:lstStyle/>
          <a:p>
            <a:r>
              <a:rPr kumimoji="1" lang="zh-CN" altLang="en-US" dirty="0"/>
              <a:t>数据集</a:t>
            </a:r>
            <a:r>
              <a:rPr kumimoji="1" lang="en-US" altLang="zh-CN" dirty="0"/>
              <a:t>Ⅰ</a:t>
            </a:r>
            <a:r>
              <a:rPr kumimoji="1" lang="zh-CN" altLang="en-US" dirty="0"/>
              <a:t>样例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E616B3-3BB4-4DDB-8665-614DDDDF96EA}" type="slidenum">
              <a:rPr lang="zh-CN" altLang="en-US" smtClean="0"/>
            </a:fld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1268685"/>
            <a:ext cx="8642350" cy="1296219"/>
          </a:xfrm>
        </p:spPr>
        <p:txBody>
          <a:bodyPr/>
          <a:lstStyle/>
          <a:p>
            <a:r>
              <a:rPr kumimoji="1" lang="zh-CN" altLang="en-US" sz="2400" dirty="0"/>
              <a:t>图片数据</a:t>
            </a:r>
            <a:endParaRPr kumimoji="1" lang="en-US" altLang="zh-CN" sz="2400" dirty="0"/>
          </a:p>
          <a:p>
            <a:r>
              <a:rPr kumimoji="1" lang="zh-CN" altLang="en-US" sz="2400" dirty="0"/>
              <a:t>标注</a:t>
            </a:r>
            <a:r>
              <a:rPr kumimoji="1" lang="en-US" altLang="zh-CN" sz="2400" dirty="0"/>
              <a:t>labels</a:t>
            </a:r>
            <a:r>
              <a:rPr kumimoji="1" lang="zh-CN" altLang="en-US" sz="2400" dirty="0"/>
              <a:t>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（痕迹分割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类型）</a:t>
            </a:r>
            <a:endParaRPr kumimoji="1" lang="en-US" altLang="zh-CN" sz="2000" dirty="0"/>
          </a:p>
          <a:p>
            <a:endParaRPr kumimoji="1" lang="en-US" altLang="zh-CN" sz="2400" dirty="0"/>
          </a:p>
        </p:txBody>
      </p:sp>
      <p:sp>
        <p:nvSpPr>
          <p:cNvPr id="8" name="矩形 7"/>
          <p:cNvSpPr/>
          <p:nvPr/>
        </p:nvSpPr>
        <p:spPr bwMode="auto">
          <a:xfrm>
            <a:off x="899592" y="4136831"/>
            <a:ext cx="1368152" cy="73232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086" y="4533906"/>
            <a:ext cx="2280516" cy="217192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 bwMode="auto">
          <a:xfrm>
            <a:off x="251520" y="3068960"/>
            <a:ext cx="8785671" cy="294157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数据集参考</a:t>
            </a:r>
            <a:r>
              <a:rPr kumimoji="1" lang="en-US" altLang="zh-CN" dirty="0"/>
              <a:t>Ⅱ</a:t>
            </a:r>
            <a:r>
              <a:rPr kumimoji="1" lang="zh-CN" altLang="en-US" dirty="0"/>
              <a:t>（</a:t>
            </a:r>
            <a:r>
              <a:rPr kumimoji="1" lang="en-US" altLang="zh-CN" dirty="0"/>
              <a:t>Holmes</a:t>
            </a:r>
            <a:r>
              <a:rPr kumimoji="1" lang="zh-CN" altLang="en-US" dirty="0"/>
              <a:t>）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1268685"/>
            <a:ext cx="8642350" cy="2376339"/>
          </a:xfrm>
        </p:spPr>
        <p:txBody>
          <a:bodyPr/>
          <a:lstStyle/>
          <a:p>
            <a:r>
              <a:rPr kumimoji="1" lang="en-US" altLang="zh-CN" sz="2800" dirty="0"/>
              <a:t>Holmes-</a:t>
            </a:r>
            <a:r>
              <a:rPr kumimoji="1" lang="en-US" altLang="zh-CN" sz="2800" dirty="0" err="1"/>
              <a:t>SFTSet</a:t>
            </a:r>
            <a:r>
              <a:rPr kumimoji="1" lang="zh-CN" altLang="en-US" sz="2800" dirty="0"/>
              <a:t>：</a:t>
            </a:r>
            <a:r>
              <a:rPr kumimoji="1" lang="en-US" altLang="zh-CN" sz="2800" dirty="0"/>
              <a:t>65K </a:t>
            </a:r>
            <a:r>
              <a:rPr kumimoji="1" lang="zh-CN" altLang="en-US" sz="2800" dirty="0"/>
              <a:t>条“带解释”的图像样本</a:t>
            </a:r>
            <a:endParaRPr kumimoji="1" lang="en-US" altLang="zh-CN" sz="2800" dirty="0"/>
          </a:p>
          <a:p>
            <a:pPr lvl="1"/>
            <a:r>
              <a:rPr kumimoji="1" lang="zh-CN" altLang="en-US" sz="2400" dirty="0"/>
              <a:t>覆盖 </a:t>
            </a:r>
            <a:r>
              <a:rPr kumimoji="1" lang="en-US" altLang="zh-CN" sz="2400" dirty="0"/>
              <a:t>18 </a:t>
            </a:r>
            <a:r>
              <a:rPr kumimoji="1" lang="zh-CN" altLang="en-US" sz="2400" dirty="0"/>
              <a:t>个生成器，由 </a:t>
            </a:r>
            <a:r>
              <a:rPr kumimoji="1" lang="en-US" altLang="zh-CN" sz="2400" dirty="0"/>
              <a:t>45K </a:t>
            </a:r>
            <a:r>
              <a:rPr kumimoji="1" lang="zh-CN" altLang="en-US" sz="2400" dirty="0"/>
              <a:t>来自 </a:t>
            </a:r>
            <a:r>
              <a:rPr kumimoji="1" lang="en-US" altLang="zh-CN" sz="2400" dirty="0" err="1"/>
              <a:t>CNNDetection</a:t>
            </a:r>
            <a:r>
              <a:rPr kumimoji="1" lang="zh-CN" altLang="en-US" sz="2400" dirty="0"/>
              <a:t>、</a:t>
            </a:r>
            <a:r>
              <a:rPr kumimoji="1" lang="en-US" altLang="zh-CN" sz="2400" dirty="0" err="1"/>
              <a:t>GenImage</a:t>
            </a:r>
            <a:r>
              <a:rPr kumimoji="1" lang="zh-CN" altLang="en-US" sz="2400" dirty="0"/>
              <a:t>、</a:t>
            </a:r>
            <a:r>
              <a:rPr kumimoji="1" lang="en-US" altLang="zh-CN" sz="2400" dirty="0"/>
              <a:t>DRCT </a:t>
            </a:r>
            <a:r>
              <a:rPr kumimoji="1" lang="zh-CN" altLang="en-US" sz="2400" dirty="0"/>
              <a:t>的通用样本 与 </a:t>
            </a:r>
            <a:r>
              <a:rPr kumimoji="1" lang="en-US" altLang="zh-CN" sz="2400" dirty="0"/>
              <a:t>20K </a:t>
            </a:r>
            <a:r>
              <a:rPr kumimoji="1" lang="zh-CN" altLang="en-US" sz="2400" dirty="0"/>
              <a:t>面向典型生成缺陷的专家筛选样本构成</a:t>
            </a:r>
            <a:endParaRPr kumimoji="1" lang="en-US" altLang="zh-CN" sz="2400" dirty="0"/>
          </a:p>
          <a:p>
            <a:pPr lvl="1"/>
            <a:r>
              <a:rPr lang="zh-CN" altLang="en-US" sz="2400" dirty="0"/>
              <a:t>解释内容同时包含 </a:t>
            </a:r>
            <a:r>
              <a:rPr lang="zh-CN" altLang="en-US" sz="2400" b="1" dirty="0"/>
              <a:t>高层语义错误</a:t>
            </a:r>
            <a:r>
              <a:rPr lang="zh-CN" altLang="en-US" sz="2400" dirty="0"/>
              <a:t> 与 </a:t>
            </a:r>
            <a:r>
              <a:rPr lang="zh-CN" altLang="en-US" sz="2400" b="1" dirty="0"/>
              <a:t>低层视觉伪影</a:t>
            </a:r>
            <a:endParaRPr kumimoji="1"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E616B3-3BB4-4DDB-8665-614DDDDF96EA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 Box 9"/>
          <p:cNvSpPr txBox="1"/>
          <p:nvPr/>
        </p:nvSpPr>
        <p:spPr>
          <a:xfrm>
            <a:off x="539750" y="5445224"/>
            <a:ext cx="7632848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latin typeface="Microsoft Sans Serif" panose="020B0604020202020204" charset="0"/>
                <a:ea typeface="Heiti SC Light" panose="02000000000000000000" charset="-122"/>
                <a:cs typeface="Microsoft Sans Serif" panose="020B0604020202020204" charset="0"/>
              </a:rPr>
              <a:t>下载</a:t>
            </a:r>
            <a:r>
              <a:rPr lang="en-US" dirty="0" err="1">
                <a:latin typeface="Microsoft Sans Serif" panose="020B0604020202020204" charset="0"/>
                <a:ea typeface="Heiti SC Light" panose="02000000000000000000" charset="-122"/>
                <a:cs typeface="Microsoft Sans Serif" panose="020B0604020202020204" charset="0"/>
              </a:rPr>
              <a:t>链接</a:t>
            </a:r>
            <a:r>
              <a:rPr lang="zh-CN" altLang="en-US" dirty="0">
                <a:latin typeface="Microsoft Sans Serif" panose="020B0604020202020204" charset="0"/>
                <a:ea typeface="Heiti SC Light" panose="02000000000000000000" charset="-122"/>
                <a:cs typeface="Microsoft Sans Serif" panose="020B0604020202020204" charset="0"/>
              </a:rPr>
              <a:t>：</a:t>
            </a:r>
            <a:endParaRPr lang="en-US" altLang="zh-CN" dirty="0">
              <a:latin typeface="Microsoft Sans Serif" panose="020B0604020202020204" charset="0"/>
              <a:ea typeface="Heiti SC Light" panose="02000000000000000000" charset="-122"/>
              <a:cs typeface="Microsoft Sans Serif" panose="020B0604020202020204" charset="0"/>
            </a:endParaRPr>
          </a:p>
          <a:p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Sans Serif" panose="020B0604020202020204" charset="0"/>
                <a:ea typeface="Heiti SC Light" panose="02000000000000000000" charset="-122"/>
                <a:cs typeface="Microsoft Sans Serif" panose="020B0604020202020204" charset="0"/>
              </a:rPr>
              <a:t>https://huggingface.co/datasets/zzy0123/AIGI-Holmes-Dataset</a:t>
            </a:r>
            <a:endParaRPr lang="en-US" altLang="zh-CN" dirty="0">
              <a:latin typeface="Microsoft Sans Serif" panose="020B0604020202020204" charset="0"/>
              <a:ea typeface="Heiti SC Light" panose="02000000000000000000" charset="-122"/>
              <a:cs typeface="Microsoft Sans Serif" panose="020B0604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188913"/>
            <a:ext cx="8642350" cy="1079500"/>
          </a:xfrm>
        </p:spPr>
        <p:txBody>
          <a:bodyPr/>
          <a:lstStyle/>
          <a:p>
            <a:r>
              <a:rPr kumimoji="1" lang="zh-CN" altLang="en-US" dirty="0"/>
              <a:t>数据集</a:t>
            </a:r>
            <a:r>
              <a:rPr kumimoji="1" lang="en-US" altLang="zh-CN" dirty="0"/>
              <a:t>Ⅱ</a:t>
            </a:r>
            <a:r>
              <a:rPr kumimoji="1" lang="zh-CN" altLang="en-US" dirty="0"/>
              <a:t>样例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E616B3-3BB4-4DDB-8665-614DDDDF96EA}" type="slidenum">
              <a:rPr lang="zh-CN" altLang="en-US" smtClean="0"/>
            </a:fld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1268685"/>
            <a:ext cx="8642350" cy="1296219"/>
          </a:xfrm>
        </p:spPr>
        <p:txBody>
          <a:bodyPr/>
          <a:lstStyle/>
          <a:p>
            <a:r>
              <a:rPr kumimoji="1" lang="zh-CN" altLang="en-US" sz="2400" dirty="0"/>
              <a:t>图片数据</a:t>
            </a:r>
            <a:endParaRPr kumimoji="1" lang="en-US" altLang="zh-CN" sz="2400" dirty="0"/>
          </a:p>
          <a:p>
            <a:r>
              <a:rPr kumimoji="1" lang="zh-CN" altLang="en-US" sz="2400" dirty="0"/>
              <a:t>标注</a:t>
            </a:r>
            <a:r>
              <a:rPr kumimoji="1" lang="en-US" altLang="zh-CN" sz="2400" dirty="0"/>
              <a:t>labels</a:t>
            </a:r>
            <a:r>
              <a:rPr kumimoji="1" lang="zh-CN" altLang="en-US" sz="2400" dirty="0"/>
              <a:t>：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Response</a:t>
            </a:r>
            <a:r>
              <a:rPr kumimoji="1" lang="zh-CN" altLang="en-US" sz="2000" dirty="0"/>
              <a:t>（检测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解释）</a:t>
            </a:r>
            <a:endParaRPr kumimoji="1" lang="en-US" altLang="zh-CN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36" y="2996952"/>
            <a:ext cx="5871319" cy="266429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r="27218"/>
          <a:stretch>
            <a:fillRect/>
          </a:stretch>
        </p:blipFill>
        <p:spPr>
          <a:xfrm>
            <a:off x="6876256" y="2420888"/>
            <a:ext cx="1541942" cy="32849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评价标准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1268685"/>
            <a:ext cx="8642350" cy="3312443"/>
          </a:xfrm>
        </p:spPr>
        <p:txBody>
          <a:bodyPr/>
          <a:lstStyle/>
          <a:p>
            <a:r>
              <a:rPr kumimoji="1" lang="zh-CN" altLang="en-US" b="1" dirty="0"/>
              <a:t>任务</a:t>
            </a:r>
            <a:r>
              <a:rPr kumimoji="1" lang="en-US" altLang="zh-CN" b="1" dirty="0"/>
              <a:t>1</a:t>
            </a:r>
            <a:r>
              <a:rPr kumimoji="1" lang="zh-CN" altLang="en-US" b="1" dirty="0"/>
              <a:t>（检测分类 </a:t>
            </a:r>
            <a:r>
              <a:rPr kumimoji="1" lang="en-US" altLang="zh-CN" b="1" dirty="0"/>
              <a:t>)</a:t>
            </a:r>
            <a:endParaRPr kumimoji="1" lang="en-US" altLang="zh-CN" b="1" dirty="0"/>
          </a:p>
          <a:p>
            <a:pPr lvl="1"/>
            <a:r>
              <a:rPr kumimoji="1" lang="zh-CN" altLang="en-US" dirty="0"/>
              <a:t>汇报分类准确率</a:t>
            </a:r>
            <a:r>
              <a:rPr kumimoji="1" lang="en-US" altLang="zh-CN" dirty="0"/>
              <a:t>Acc</a:t>
            </a:r>
            <a:r>
              <a:rPr kumimoji="1" lang="zh-CN" altLang="en-US" dirty="0"/>
              <a:t>，</a:t>
            </a:r>
            <a:r>
              <a:rPr kumimoji="1" lang="en-US" altLang="zh-CN" dirty="0"/>
              <a:t>AP</a:t>
            </a:r>
            <a:endParaRPr kumimoji="1" lang="en-US" altLang="zh-CN" dirty="0"/>
          </a:p>
          <a:p>
            <a:r>
              <a:rPr lang="zh-CN" altLang="en-US" b="1" dirty="0"/>
              <a:t>任务</a:t>
            </a:r>
            <a:r>
              <a:rPr lang="en-US" altLang="zh-CN" b="1" dirty="0"/>
              <a:t>2</a:t>
            </a:r>
            <a:r>
              <a:rPr lang="zh-CN" altLang="en-US" b="1" dirty="0"/>
              <a:t>（伪造解释）</a:t>
            </a:r>
            <a:endParaRPr lang="en-US" altLang="zh-CN" b="1" dirty="0"/>
          </a:p>
          <a:p>
            <a:pPr lvl="1"/>
            <a:r>
              <a:rPr lang="zh-CN" altLang="en-US" dirty="0"/>
              <a:t>汇报生成解释与标注解释的相似度（</a:t>
            </a:r>
            <a:r>
              <a:rPr lang="en-US" altLang="zh-CN" dirty="0"/>
              <a:t>BLEU</a:t>
            </a:r>
            <a:r>
              <a:rPr lang="zh-CN" altLang="en-US" dirty="0"/>
              <a:t>、</a:t>
            </a:r>
            <a:r>
              <a:rPr lang="en-US" altLang="zh-CN" dirty="0"/>
              <a:t>ROUGE-L</a:t>
            </a:r>
            <a:r>
              <a:rPr lang="zh-CN" altLang="en-US" dirty="0"/>
              <a:t>等）</a:t>
            </a:r>
            <a:endParaRPr lang="en-US" altLang="zh-CN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（痕迹定位）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汇报定位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mask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与标注区域（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segmentation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）的</a:t>
            </a:r>
            <a:r>
              <a:rPr lang="en-US" altLang="zh-CN" dirty="0" err="1"/>
              <a:t>IoU</a:t>
            </a:r>
            <a:r>
              <a:rPr lang="zh-CN" altLang="en-US" dirty="0"/>
              <a:t>、</a:t>
            </a:r>
            <a:r>
              <a:rPr lang="en-US" altLang="zh-CN" dirty="0" err="1"/>
              <a:t>PixP</a:t>
            </a:r>
            <a:r>
              <a:rPr lang="zh-CN" altLang="en-US" dirty="0"/>
              <a:t>、</a:t>
            </a:r>
            <a:r>
              <a:rPr lang="en-US" altLang="zh-CN" dirty="0" err="1"/>
              <a:t>PixR</a:t>
            </a:r>
            <a:r>
              <a:rPr lang="zh-CN" altLang="en-US" dirty="0"/>
              <a:t>、</a:t>
            </a:r>
            <a:r>
              <a:rPr lang="en-US" altLang="zh-CN" dirty="0"/>
              <a:t>PixF1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E616B3-3BB4-4DDB-8665-614DDDDF96EA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 Box 9"/>
          <p:cNvSpPr txBox="1"/>
          <p:nvPr/>
        </p:nvSpPr>
        <p:spPr>
          <a:xfrm>
            <a:off x="468174" y="5619644"/>
            <a:ext cx="7632848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latin typeface="Microsoft Sans Serif" panose="020B0604020202020204" charset="0"/>
                <a:ea typeface="Heiti SC Light" panose="02000000000000000000" charset="-122"/>
                <a:cs typeface="Microsoft Sans Serif" panose="020B0604020202020204" charset="0"/>
              </a:rPr>
              <a:t>训练数据集集自选，测试集</a:t>
            </a:r>
            <a:r>
              <a:rPr lang="zh-CN" altLang="en-US" dirty="0">
                <a:latin typeface="Microsoft Sans Serif" panose="020B0604020202020204" charset="0"/>
                <a:ea typeface="Heiti SC Light" panose="02000000000000000000" charset="-122"/>
                <a:cs typeface="Microsoft Sans Serif" panose="020B0604020202020204" charset="0"/>
              </a:rPr>
              <a:t>使用下载</a:t>
            </a:r>
            <a:r>
              <a:rPr lang="en-US" dirty="0" err="1">
                <a:latin typeface="Microsoft Sans Serif" panose="020B0604020202020204" charset="0"/>
                <a:ea typeface="Heiti SC Light" panose="02000000000000000000" charset="-122"/>
                <a:cs typeface="Microsoft Sans Serif" panose="020B0604020202020204" charset="0"/>
              </a:rPr>
              <a:t>链接</a:t>
            </a:r>
            <a:r>
              <a:rPr lang="zh-CN" altLang="en-US" dirty="0">
                <a:latin typeface="Microsoft Sans Serif" panose="020B0604020202020204" charset="0"/>
                <a:ea typeface="Heiti SC Light" panose="02000000000000000000" charset="-122"/>
                <a:cs typeface="Microsoft Sans Serif" panose="020B0604020202020204" charset="0"/>
              </a:rPr>
              <a:t>：</a:t>
            </a:r>
            <a:endParaRPr lang="en-US" altLang="zh-CN" dirty="0">
              <a:latin typeface="Microsoft Sans Serif" panose="020B0604020202020204" charset="0"/>
              <a:ea typeface="Heiti SC Light" panose="02000000000000000000" charset="-122"/>
              <a:cs typeface="Microsoft Sans Serif" panose="020B0604020202020204" charset="0"/>
            </a:endParaRPr>
          </a:p>
          <a:p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Sans Serif" panose="020B0604020202020204" charset="0"/>
                <a:ea typeface="Heiti SC Light" panose="02000000000000000000" charset="-122"/>
                <a:cs typeface="Microsoft Sans Serif" panose="020B0604020202020204" charset="0"/>
              </a:rPr>
              <a:t>https://pan.baidu.com/s/1jsHKONdrJDAlhFxwq9Dfpw?pwd=kcsj </a:t>
            </a:r>
            <a:endParaRPr lang="en-US" altLang="zh-CN" dirty="0">
              <a:latin typeface="Microsoft Sans Serif" panose="020B0604020202020204" charset="0"/>
              <a:ea typeface="Heiti SC Light" panose="02000000000000000000" charset="-122"/>
              <a:cs typeface="Microsoft Sans Serif" panose="020B06040202020202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DVkNDFkNWYwOWEzMDFhMTc3ZDM1NmQ3NTQyOTliMTgifQ=="/>
</p:tagLst>
</file>

<file path=ppt/theme/theme1.xml><?xml version="1.0" encoding="utf-8"?>
<a:theme xmlns:a="http://schemas.openxmlformats.org/drawingml/2006/main" name="Office 主题​​">
  <a:themeElements>
    <a:clrScheme name="气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25400">
          <a:solidFill>
            <a:schemeClr val="accent1"/>
          </a:solidFill>
          <a:miter lim="800000"/>
        </a:ln>
      </a:spPr>
      <a:bodyPr wrap="square">
        <a:spAutoFit/>
      </a:bodyPr>
      <a:lstStyle>
        <a:defPPr algn="ctr">
          <a:lnSpc>
            <a:spcPct val="150000"/>
          </a:lnSpc>
          <a:defRPr sz="20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726</Words>
  <Application>WPS 演示</Application>
  <PresentationFormat>全屏显示(4:3)</PresentationFormat>
  <Paragraphs>66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微软雅黑</vt:lpstr>
      <vt:lpstr>等线</vt:lpstr>
      <vt:lpstr>楷体</vt:lpstr>
      <vt:lpstr>Microsoft Sans Serif</vt:lpstr>
      <vt:lpstr>Heiti SC Light</vt:lpstr>
      <vt:lpstr>Arial Unicode MS</vt:lpstr>
      <vt:lpstr>Office 主题​​</vt:lpstr>
      <vt:lpstr>数据集参考Ⅰ（SynthScars）</vt:lpstr>
      <vt:lpstr>数据集参考Ⅰ</vt:lpstr>
      <vt:lpstr>数据集Ⅰ样例</vt:lpstr>
      <vt:lpstr>数据集参考Ⅱ（Holmes）</vt:lpstr>
      <vt:lpstr>数据集Ⅱ样例</vt:lpstr>
      <vt:lpstr>评价标准</vt:lpstr>
    </vt:vector>
  </TitlesOfParts>
  <Company>ict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ghack</dc:creator>
  <cp:lastModifiedBy>帆</cp:lastModifiedBy>
  <cp:revision>3402</cp:revision>
  <cp:lastPrinted>2022-03-29T08:17:00Z</cp:lastPrinted>
  <dcterms:created xsi:type="dcterms:W3CDTF">2022-03-29T08:17:00Z</dcterms:created>
  <dcterms:modified xsi:type="dcterms:W3CDTF">2026-04-14T08:52:43Z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09A7CFD55F254DF1961FB412108FBA18_13</vt:lpwstr>
  </property>
</Properties>
</file>